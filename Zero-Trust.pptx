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72" r:id="rId26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3E3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2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82" y="8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D8846-9909-4748-B5AB-C4F3F8281FC6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2FE229-5E42-4924-A6F8-174647106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4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ED8B-7A1D-79AD-5782-F8F8DC60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426AB-260D-7AF8-E300-517D21273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D035B-31AB-CA4C-2D6B-71C6F34C6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2DE5D-F243-C308-B98A-4A99E2272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9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2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740C-162B-844A-4C30-083A6FE6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C23ED-1325-4AD5-76C7-3067C56AA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0B3D9-E94C-7686-EEC5-C1CA962D6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D3609-4674-843F-BD5D-8DB82D5C8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84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4AAD-9805-76C9-DFBE-732AFD05B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25F61-7AC7-4653-F0E4-05377722E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67DEC-7F92-6B42-53BA-DB5AE3B62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760C8-4249-3ADF-3E7D-F03BEB738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08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7EC54-33D6-6EFA-F49D-264AEF09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F6BFF-D410-5935-BC7B-0A92B2A11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55215-FE91-DFB9-4977-EBF14EEF2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A77C9-A70F-6FBC-FDF5-1ED150227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43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1424-52BE-2435-742F-C8CEE21F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11429-CFE6-4961-903B-5A1718896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AAA35-5777-7356-625A-8514A7C18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46B15-0FA5-A4D3-82B1-0870BC52F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55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ADD7-A807-20D0-C54C-C0C55C85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86D88-2AE7-FCA3-FA59-8DF68DE6D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3C2F0-FAF3-F923-3B9C-B7C1133DF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13131-AA0E-6A03-1892-10142239C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47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EFCF0-8075-8568-B594-87582DA0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76F55-182A-1F16-C9A1-8E627059F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36D8E-D432-D74C-891C-5AB53317F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EC357-C565-E9A2-7286-42CE6353B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07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79F4-AD3B-FD4B-F492-2140DF1BB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3F7FA-F4AE-2089-96C5-E2FC53506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B0727-6DDE-84EA-0B5F-98B5C2FA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145F8-ECCA-CCB8-6865-5EF49DD2E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40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2079-FCBB-257A-1080-D629092A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D95EE-CD89-C2A2-BEED-9DC17FDFD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9D0A9-4B8A-9A42-2573-AD37E6F18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1CE70-BF0E-6CA8-59EC-370CF8B35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81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0B19-7637-46EE-CB92-030EE5BA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ECDB6-1B26-53BB-A35A-4B2B8B93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8D878-2404-4B76-C7ED-7677DF211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1A9D9-428F-205A-B058-61F113298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41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0E14-F81C-D77C-E192-F0630B14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41133-55D7-8362-ACAC-550A16552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BEA4A-0FC8-A27B-27AB-DCF63ED8E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5D482-F825-82DB-69DC-DA02B87C8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86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B0D9-C4E2-B9E3-E8C8-CF91C34B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6229-FA8B-C4BE-EA21-26343F43A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8C9E5-B21F-ED4E-C8B4-6CACC2117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BE970-FA6C-F2DA-3AAC-1D5ED96F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29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16255-CF32-845D-2F16-3969A99FA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A1504-D9B9-0BEE-E17A-027BDA77E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47862-8A05-9A9C-C1A5-2D9CB151D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0866B-2DFA-9F2E-8CC9-12ABAAC9F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121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CB9B-A8C2-BD85-ED10-D657FC32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503F8-A68F-DCA9-42C1-4FF083DFB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4558E-727F-83D8-0E41-6AEFD073E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AB8EE-A168-D0BF-670A-5BCAED2A0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42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B19F-F073-9AD6-4106-83A43FBC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E70B1-8947-CB1B-DC55-A4DCFCE1F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300BD-9CA8-0FC9-E2CF-BEC1622E4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850C2-7BB8-53B8-9664-C67FB82FE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32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2E56-2B6A-9623-303F-FA81C056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FCD2E-C333-6EAB-B2AA-D2B97CFCD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FE31-2C7D-D276-C0C8-4A346ED8F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52B86-D685-3E6F-DEC4-F7474EC70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5B0F-1D03-87B1-6756-AEA85D9D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849CE-E9AD-3D8F-8AB2-84C5C2895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2C763-A05F-FC5C-7317-C1E341C34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3AF55-9820-1648-82CB-7389B4150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73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712F-801F-35BC-CBC6-A6E55124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C5131-CC97-38B0-8AA8-5BD3EBA63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B7124-9CB1-AFC4-D5D6-99EBCB37D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7D0D6-B34F-6B7D-2C84-07673A6AA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4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CA80-26AC-15C0-0575-7E794E87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84C25-7983-2CC0-1A98-B1F94071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E90CD-88ED-25CA-079A-BD637CA18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FE909-CC3E-8B79-F343-D055AC2DD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06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167D2-C124-E58A-7929-E19240DB1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3796C-227F-C92F-449B-7EADD49D8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09449-360F-E0C2-1426-23816A797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1837-548C-7333-2DF3-F9DB99AD3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42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57A85-7D19-B37B-DD46-3E40ECCF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08B39-AC76-A39D-7D2A-F26653F3F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19F54-30E7-05E1-2769-0DC56F68B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5BD00-4C4E-4469-52F9-095B37DFC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89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E8F09-7BAA-7B57-D090-DF8ABBE9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A6803-792F-6850-4C29-8B5F146B1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25930-E8BD-0820-C4CC-A60B33DE7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15E24-9894-2012-81E9-1A1B207A02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95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2F3B-CBB0-D8C6-9EAC-EC0E326BC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949D2-2159-CCD8-EB94-56B810417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46B18-2288-BFCA-7083-6B2796513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39C59-959E-5A4E-9F07-37828D8B5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01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F705-1B34-E5A7-56F7-36A34697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5D8C7F-9743-A833-AC66-75A790C2D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B3BC4-77A7-14FD-E2C7-091EF417D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52E7E-47C3-662B-1A98-8CAD109DA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2FE229-5E42-4924-A6F8-17464710644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91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9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8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9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2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25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4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6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1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7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7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5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FC90D-008C-49FD-B9D3-8D82D52F1A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7031F-7E49-4462-9FB9-9BE9E121F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av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ZiadNasseer/Zero-Trust/blob/main/Mermaid%20Chart%20-%20Create%20complex%2C%20visual%20diagrams%20with%20text.-2026-02-12-162254.sv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av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06949-10A4-4979-8E9F-E074E8F1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E61BE3-7302-4021-08CC-62F41E81ADE5}"/>
              </a:ext>
            </a:extLst>
          </p:cNvPr>
          <p:cNvSpPr txBox="1"/>
          <p:nvPr/>
        </p:nvSpPr>
        <p:spPr>
          <a:xfrm>
            <a:off x="3241344" y="6902397"/>
            <a:ext cx="9880978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Cybersecurity Mindset: </a:t>
            </a:r>
            <a:r>
              <a:rPr lang="ar-EG" sz="2400" b="1" dirty="0">
                <a:solidFill>
                  <a:srgbClr val="FF0000"/>
                </a:solidFill>
              </a:rPr>
              <a:t> لماذا المهارات النفسية أخطر من الثغرات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DEC5D-9CE6-F0EA-0AC6-5DF0777FED74}"/>
              </a:ext>
            </a:extLst>
          </p:cNvPr>
          <p:cNvSpPr txBox="1"/>
          <p:nvPr/>
        </p:nvSpPr>
        <p:spPr>
          <a:xfrm>
            <a:off x="2470807" y="1051034"/>
            <a:ext cx="11314386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Cybersecurity begins in the mind: Human development as the first line of defense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FCCA64-325A-EC93-F29F-F0C91A91CAE5}"/>
              </a:ext>
            </a:extLst>
          </p:cNvPr>
          <p:cNvSpPr txBox="1"/>
          <p:nvPr/>
        </p:nvSpPr>
        <p:spPr>
          <a:xfrm>
            <a:off x="3562066" y="3993972"/>
            <a:ext cx="9239534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ما بين العقل والكود: كيف تصنع شخصية محترف الأمن السيبراني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26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4DF41-D66B-479C-5861-ADA52CE580C8}"/>
              </a:ext>
            </a:extLst>
          </p:cNvPr>
          <p:cNvSpPr txBox="1"/>
          <p:nvPr/>
        </p:nvSpPr>
        <p:spPr>
          <a:xfrm>
            <a:off x="1549399" y="1091821"/>
            <a:ext cx="13231125" cy="9325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effectLst>
            <a:glow rad="558800">
              <a:srgbClr val="C00000">
                <a:alpha val="55000"/>
              </a:srgbClr>
            </a:glow>
            <a:outerShdw blurRad="50800" dist="50800" dir="5400000" sx="1000" sy="1000" algn="ctr" rotWithShape="0">
              <a:schemeClr val="bg1"/>
            </a:outerShdw>
            <a:softEdge rad="12700"/>
          </a:effectLst>
        </p:spPr>
        <p:txBody>
          <a:bodyPr wrap="square" rtlCol="0">
            <a:spAutoFit/>
          </a:bodyPr>
          <a:lstStyle/>
          <a:p>
            <a:pPr marL="342900" indent="-342900" algn="ctr" rtl="1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 algn="ctr" rtl="1">
              <a:buFont typeface="Wingdings" panose="05000000000000000000" pitchFamily="2" charset="2"/>
              <a:buChar char="Ø"/>
            </a:pPr>
            <a:r>
              <a:rPr lang="ar-EG" sz="2000" b="1" dirty="0">
                <a:solidFill>
                  <a:schemeClr val="bg1"/>
                </a:solidFill>
              </a:rPr>
              <a:t>كتير من الناس فاكرة إن الأمن السيبراني هو كود، أدوات، ثغرات، وبرامج معقدة…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لكن الحقيقة إن أقوى اختراق في العالم، وأخطر هجوم إلكتروني، بيبدأ من عقل إنسان.</a:t>
            </a:r>
          </a:p>
          <a:p>
            <a:pPr algn="r" rtl="1"/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قبل ما أي </a:t>
            </a:r>
            <a:r>
              <a:rPr lang="en-US" sz="2000" b="1" dirty="0">
                <a:solidFill>
                  <a:schemeClr val="bg1"/>
                </a:solidFill>
              </a:rPr>
              <a:t> Malware </a:t>
            </a:r>
            <a:r>
              <a:rPr lang="ar-EG" sz="2000" b="1" dirty="0">
                <a:solidFill>
                  <a:schemeClr val="bg1"/>
                </a:solidFill>
              </a:rPr>
              <a:t>يشتغل، في إنسان فكّر.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br>
              <a:rPr lang="ar-EG" sz="2000" b="1" dirty="0">
                <a:solidFill>
                  <a:schemeClr val="bg1"/>
                </a:solidFill>
              </a:rPr>
            </a:br>
            <a:r>
              <a:rPr lang="ar-EG" sz="2000" b="1" dirty="0">
                <a:solidFill>
                  <a:schemeClr val="bg1"/>
                </a:solidFill>
              </a:rPr>
              <a:t>وقبل ما أي نظام يقع، في إنسان أخطأ.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br>
              <a:rPr lang="ar-EG" sz="2000" b="1" dirty="0">
                <a:solidFill>
                  <a:schemeClr val="bg1"/>
                </a:solidFill>
              </a:rPr>
            </a:br>
            <a:r>
              <a:rPr lang="ar-EG" sz="2000" b="1" dirty="0">
                <a:solidFill>
                  <a:schemeClr val="bg1"/>
                </a:solidFill>
              </a:rPr>
              <a:t>وقبل ما أي دفاع ينجح، في إنسان كان ثابت تحت الضغط.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التنمية البشرية هنا مش تحفيز ولا كلام نظري،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هي تطوير طريقة التفكير، التحكم في القرار، وإدارة النفس في لحظات الخطر.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في المحاضرة دي، مش هنتكلم عن أدوات اختراق ولا أوامر برمجية،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rgbClr val="92D050"/>
                </a:solidFill>
              </a:rPr>
              <a:t>لكن هنتكلم عن العقلية اللي بتصنع محترف أمن سيبراني حقيقي: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عقل يعرف يشك،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نفس تعرف تهدى،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وشخصية تعرف تختار الصح في الوقت الغلط.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لأن في عالم الأمن السيبراني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EG" sz="2000" b="1" dirty="0">
              <a:solidFill>
                <a:schemeClr val="bg1"/>
              </a:solidFill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EG" sz="2000" b="1" dirty="0">
                <a:solidFill>
                  <a:schemeClr val="bg1"/>
                </a:solidFill>
              </a:rPr>
              <a:t>العقل هو خط الدفاع الأول، وأحيانًا آخر خط دفاع.</a:t>
            </a:r>
          </a:p>
          <a:p>
            <a:pPr algn="r" rtl="1"/>
            <a:endParaRPr lang="ar-EG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3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CCF61-16E8-445A-5D1B-B89F9EEC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367F6-A3A8-009A-BD70-3BF252F24D58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rgbClr val="FF0000"/>
                </a:solidFill>
              </a:rPr>
              <a:t>أولًا: يعني إيه تنمية بشرية أصلًا؟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29E17-315B-FA6F-19B6-10716875A37C}"/>
              </a:ext>
            </a:extLst>
          </p:cNvPr>
          <p:cNvSpPr txBox="1"/>
          <p:nvPr/>
        </p:nvSpPr>
        <p:spPr>
          <a:xfrm>
            <a:off x="2798072" y="3223303"/>
            <a:ext cx="11151175" cy="4893647"/>
          </a:xfrm>
          <a:prstGeom prst="rect">
            <a:avLst/>
          </a:prstGeom>
          <a:solidFill>
            <a:schemeClr val="tx1">
              <a:alpha val="68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ar-EG" sz="2400" b="1" dirty="0">
                <a:solidFill>
                  <a:schemeClr val="bg1">
                    <a:lumMod val="85000"/>
                  </a:schemeClr>
                </a:solidFill>
              </a:rPr>
              <a:t>التنمية البشرية مش تحفيز وخلاص، هي:</a:t>
            </a:r>
            <a:endParaRPr lang="en-US" sz="2400" b="1" dirty="0">
              <a:solidFill>
                <a:schemeClr val="bg1">
                  <a:lumMod val="85000"/>
                </a:schemeClr>
              </a:solidFill>
            </a:endParaRPr>
          </a:p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تطوير طريقة التفكير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رفع الوعي الذاتي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تحسين اتخاذ القرار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التحكم في الضغط والخوف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بناء شخصية ثابتة تحت أي ظرف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E37E0-E924-DB53-0F60-B023C8EE973B}"/>
              </a:ext>
            </a:extLst>
          </p:cNvPr>
          <p:cNvSpPr txBox="1"/>
          <p:nvPr/>
        </p:nvSpPr>
        <p:spPr>
          <a:xfrm>
            <a:off x="3030084" y="9622837"/>
            <a:ext cx="11151175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chemeClr val="accent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وده مهم جدًا في الأمن السيبراني، أكتر مما الناس فاكرة.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93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20FDC-A35E-90F9-62AA-418291B7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F63950-82A6-8D33-244D-0A94AD3CD721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rgbClr val="FF0000"/>
                </a:solidFill>
              </a:rPr>
              <a:t>ليه الأمن السيبراني محتاج تنمية بشرية؟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3D14A-A46F-2228-1196-C581E10078A6}"/>
              </a:ext>
            </a:extLst>
          </p:cNvPr>
          <p:cNvSpPr txBox="1"/>
          <p:nvPr/>
        </p:nvSpPr>
        <p:spPr>
          <a:xfrm>
            <a:off x="2552411" y="3625250"/>
            <a:ext cx="11151175" cy="5262979"/>
          </a:xfrm>
          <a:prstGeom prst="rect">
            <a:avLst/>
          </a:prstGeom>
          <a:solidFill>
            <a:schemeClr val="tx1">
              <a:alpha val="68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ar-EG" sz="2400" b="1" dirty="0">
              <a:solidFill>
                <a:schemeClr val="bg1">
                  <a:lumMod val="85000"/>
                </a:schemeClr>
              </a:solidFill>
            </a:endParaRPr>
          </a:p>
          <a:p>
            <a:pPr algn="r" rtl="1"/>
            <a:r>
              <a:rPr lang="ar-EG" sz="2400" b="1" dirty="0">
                <a:solidFill>
                  <a:schemeClr val="bg1">
                    <a:lumMod val="85000"/>
                  </a:schemeClr>
                </a:solidFill>
              </a:rPr>
              <a:t>الأمن السيبراني مش كود بس، ده عقلية</a:t>
            </a:r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: </a:t>
            </a:r>
          </a:p>
          <a:p>
            <a:pPr algn="r" rtl="1"/>
            <a:endParaRPr lang="en-US" sz="2400" b="1" dirty="0">
              <a:solidFill>
                <a:schemeClr val="bg1">
                  <a:lumMod val="85000"/>
                </a:schemeClr>
              </a:solidFill>
            </a:endParaRPr>
          </a:p>
          <a:p>
            <a:pPr marL="457200" indent="-457200" algn="r" rtl="1">
              <a:buFont typeface="+mj-lt"/>
              <a:buAutoNum type="arabicPeriod"/>
            </a:pPr>
            <a:r>
              <a:rPr lang="ar-EG" sz="2400" b="1" dirty="0">
                <a:solidFill>
                  <a:srgbClr val="C00000"/>
                </a:solidFill>
              </a:rPr>
              <a:t>التفكير التحليلي </a:t>
            </a:r>
            <a:r>
              <a:rPr lang="en-US" sz="2400" b="1" dirty="0">
                <a:solidFill>
                  <a:srgbClr val="C00000"/>
                </a:solidFill>
              </a:rPr>
              <a:t>(Analytical Thinking)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إزاي تربط أحداث ببعض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إزاي تشك في الطبيعي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إزاي تسأل: ليه ده حصل؟ مش إزاي بس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ar-EG" sz="2400" b="1" dirty="0">
                <a:solidFill>
                  <a:schemeClr val="bg1"/>
                </a:solidFill>
              </a:rPr>
              <a:t>ده تنمية بشرية عقلية مش تقنية.</a:t>
            </a:r>
            <a:endParaRPr lang="en-US" sz="2400" b="1" dirty="0">
              <a:solidFill>
                <a:schemeClr val="bg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9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D64F9-37C9-BF22-4192-FCA6344D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E6D11-D970-897A-B1A3-D90FCF93DA14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rgbClr val="FF0000"/>
                </a:solidFill>
              </a:rPr>
              <a:t>ليه الأمن السيبراني محتاج تنمية بشرية؟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F5F1EC-2B4D-33AD-ECD2-92B02967A4B4}"/>
              </a:ext>
            </a:extLst>
          </p:cNvPr>
          <p:cNvSpPr txBox="1"/>
          <p:nvPr/>
        </p:nvSpPr>
        <p:spPr>
          <a:xfrm>
            <a:off x="2675240" y="3338647"/>
            <a:ext cx="11151175" cy="6740307"/>
          </a:xfrm>
          <a:prstGeom prst="rect">
            <a:avLst/>
          </a:prstGeom>
          <a:solidFill>
            <a:schemeClr val="tx1">
              <a:alpha val="68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457200" indent="-457200" algn="r" rtl="1">
              <a:buFont typeface="+mj-lt"/>
              <a:buAutoNum type="arabicPeriod" startAt="2"/>
            </a:pPr>
            <a:r>
              <a:rPr lang="ar-EG" sz="2400" b="1" dirty="0">
                <a:solidFill>
                  <a:srgbClr val="C00000"/>
                </a:solidFill>
              </a:rPr>
              <a:t>التحكم في النفس والضغط </a:t>
            </a:r>
            <a:r>
              <a:rPr lang="en-US" sz="2400" b="1" dirty="0">
                <a:solidFill>
                  <a:srgbClr val="C00000"/>
                </a:solidFill>
              </a:rPr>
              <a:t> (Self-Control and Stress)</a:t>
            </a:r>
            <a:r>
              <a:rPr lang="ar-EG" sz="2400" b="1" dirty="0">
                <a:solidFill>
                  <a:srgbClr val="C00000"/>
                </a:solidFill>
              </a:rPr>
              <a:t> 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Incident Response</a:t>
            </a: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Malware Analysis</a:t>
            </a: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Red Team Ops</a:t>
            </a: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ar-EG" sz="2400" b="1" dirty="0">
                <a:solidFill>
                  <a:schemeClr val="bg1"/>
                </a:solidFill>
              </a:rPr>
              <a:t>غلطة بسيطه ممكن تعمل  دمار حرفيا</a:t>
            </a:r>
          </a:p>
          <a:p>
            <a:pPr algn="r" rtl="1">
              <a:buClr>
                <a:srgbClr val="00B050"/>
              </a:buClr>
            </a:pPr>
            <a:endParaRPr lang="ar-EG" sz="2400" b="1" dirty="0">
              <a:solidFill>
                <a:schemeClr val="bg1"/>
              </a:solidFill>
            </a:endParaRPr>
          </a:p>
          <a:p>
            <a:pPr algn="r" rtl="1">
              <a:buClr>
                <a:srgbClr val="00B050"/>
              </a:buClr>
            </a:pPr>
            <a:r>
              <a:rPr lang="ar-EG" sz="2400" b="1" dirty="0">
                <a:solidFill>
                  <a:schemeClr val="bg1"/>
                </a:solidFill>
              </a:rPr>
              <a:t>لازم:</a:t>
            </a:r>
          </a:p>
          <a:p>
            <a:pPr algn="r" rtl="1">
              <a:buClr>
                <a:srgbClr val="00B050"/>
              </a:buClr>
            </a:pPr>
            <a:endParaRPr lang="en-US" sz="2400" b="1" dirty="0">
              <a:solidFill>
                <a:schemeClr val="bg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chemeClr val="bg1"/>
                </a:solidFill>
              </a:rPr>
              <a:t>تركيز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chemeClr val="bg1"/>
                </a:solidFill>
              </a:rPr>
              <a:t>قرار سريع بدون تهور</a:t>
            </a:r>
          </a:p>
          <a:p>
            <a:pPr algn="r" rtl="1"/>
            <a:endParaRPr lang="ar-EG" sz="24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ar-EG" sz="2400" b="1" dirty="0">
                <a:solidFill>
                  <a:schemeClr val="bg1"/>
                </a:solidFill>
              </a:rPr>
              <a:t>دي مهارة نفسية 100%</a:t>
            </a:r>
          </a:p>
          <a:p>
            <a:pPr algn="r" rtl="1">
              <a:buClr>
                <a:srgbClr val="00B050"/>
              </a:buClr>
            </a:pPr>
            <a:endParaRPr lang="ar-E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267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D17B8-D542-18C4-D53A-61A3A9174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6434E-4DDD-A624-8FF9-70D0425A30F5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>
              <a:alpha val="67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rgbClr val="FF0000"/>
                </a:solidFill>
              </a:rPr>
              <a:t>ليه الأمن السيبراني محتاج تنمية بشرية؟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70C8A-E041-BE7B-A446-B6AC5F9296A1}"/>
              </a:ext>
            </a:extLst>
          </p:cNvPr>
          <p:cNvSpPr txBox="1"/>
          <p:nvPr/>
        </p:nvSpPr>
        <p:spPr>
          <a:xfrm>
            <a:off x="2552412" y="3679841"/>
            <a:ext cx="11151175" cy="4524315"/>
          </a:xfrm>
          <a:prstGeom prst="rect">
            <a:avLst/>
          </a:prstGeom>
          <a:solidFill>
            <a:schemeClr val="tx1">
              <a:alpha val="68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457200" indent="-457200" algn="r" rtl="1">
              <a:buFont typeface="+mj-lt"/>
              <a:buAutoNum type="arabicPeriod" startAt="3"/>
            </a:pPr>
            <a:r>
              <a:rPr lang="ar-EG" sz="2400" b="1" dirty="0">
                <a:solidFill>
                  <a:srgbClr val="C00000"/>
                </a:solidFill>
              </a:rPr>
              <a:t>بناء عقلية المهاجم </a:t>
            </a:r>
            <a:r>
              <a:rPr lang="en-US" sz="2400" b="1" dirty="0">
                <a:solidFill>
                  <a:srgbClr val="C00000"/>
                </a:solidFill>
              </a:rPr>
              <a:t>(Attacker Mindset)</a:t>
            </a:r>
            <a:endParaRPr lang="ar-EG" sz="2400" b="1" dirty="0">
              <a:solidFill>
                <a:srgbClr val="C00000"/>
              </a:solidFill>
            </a:endParaRPr>
          </a:p>
          <a:p>
            <a:pPr algn="r" rtl="1"/>
            <a:r>
              <a:rPr lang="ar-EG" sz="2400" b="1" dirty="0">
                <a:solidFill>
                  <a:srgbClr val="C00000"/>
                </a:solidFill>
              </a:rPr>
              <a:t> </a:t>
            </a:r>
          </a:p>
          <a:p>
            <a:pPr algn="r" rtl="1"/>
            <a:r>
              <a:rPr lang="ar-EG" sz="2400" b="1" dirty="0">
                <a:solidFill>
                  <a:schemeClr val="bg1"/>
                </a:solidFill>
              </a:rPr>
              <a:t>التنمية البشرية هنا معناها: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تفهم البشر قبل الأنظمة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تفهم الخوف، الطمع، الثقة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C00000"/>
                </a:solidFill>
              </a:rPr>
              <a:t> = Social Engineering</a:t>
            </a:r>
            <a:r>
              <a:rPr lang="ar-EG" sz="2400" b="1" dirty="0">
                <a:solidFill>
                  <a:srgbClr val="C00000"/>
                </a:solidFill>
              </a:rPr>
              <a:t>علم نفس قبل ما يكون اختراق</a:t>
            </a:r>
          </a:p>
          <a:p>
            <a:pPr algn="r" rtl="1"/>
            <a:endParaRPr lang="ar-EG" sz="2400" b="1" dirty="0">
              <a:solidFill>
                <a:schemeClr val="bg1"/>
              </a:solidFill>
            </a:endParaRPr>
          </a:p>
          <a:p>
            <a:pPr algn="r" rtl="1">
              <a:buClr>
                <a:srgbClr val="00B050"/>
              </a:buClr>
            </a:pPr>
            <a:endParaRPr lang="ar-E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40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000" r="-1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E98D1-0B88-472B-3F5A-E335B3355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08EFF-DD98-C8E7-E64C-96F03EA1322A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>
              <a:alpha val="92000"/>
            </a:schemeClr>
          </a:solidFill>
          <a:effectLst>
            <a:glow rad="1041400">
              <a:srgbClr val="FF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rgbClr val="FF0000"/>
                </a:solidFill>
              </a:rPr>
              <a:t>ليه الأمن السيبراني محتاج تنمية بشرية؟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3B99B-B532-74D2-E34E-5406217995B2}"/>
              </a:ext>
            </a:extLst>
          </p:cNvPr>
          <p:cNvSpPr txBox="1"/>
          <p:nvPr/>
        </p:nvSpPr>
        <p:spPr>
          <a:xfrm>
            <a:off x="2552412" y="3434182"/>
            <a:ext cx="11151175" cy="7109639"/>
          </a:xfrm>
          <a:prstGeom prst="rect">
            <a:avLst/>
          </a:prstGeom>
          <a:solidFill>
            <a:schemeClr val="tx1">
              <a:alpha val="68000"/>
            </a:schemeClr>
          </a:solidFill>
          <a:effectLst>
            <a:glow rad="1041400">
              <a:schemeClr val="bg1"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457200" indent="-457200" algn="r" rtl="1">
              <a:buFont typeface="+mj-lt"/>
              <a:buAutoNum type="arabicPeriod" startAt="4"/>
            </a:pPr>
            <a:r>
              <a:rPr lang="ar-EG" sz="2400" b="1" dirty="0">
                <a:solidFill>
                  <a:srgbClr val="C00000"/>
                </a:solidFill>
              </a:rPr>
              <a:t>الانضباط الذاتي </a:t>
            </a:r>
            <a:r>
              <a:rPr lang="en-US" sz="2400" b="1" dirty="0">
                <a:solidFill>
                  <a:srgbClr val="C00000"/>
                </a:solidFill>
              </a:rPr>
              <a:t>(Self-Discipline)</a:t>
            </a:r>
            <a:endParaRPr lang="ar-EG" sz="2400" b="1" dirty="0">
              <a:solidFill>
                <a:srgbClr val="C00000"/>
              </a:solidFill>
            </a:endParaRPr>
          </a:p>
          <a:p>
            <a:pPr algn="r" rtl="1"/>
            <a:r>
              <a:rPr lang="ar-EG" sz="2400" b="1" dirty="0">
                <a:solidFill>
                  <a:srgbClr val="C00000"/>
                </a:solidFill>
              </a:rPr>
              <a:t> </a:t>
            </a:r>
          </a:p>
          <a:p>
            <a:pPr algn="r" rtl="1"/>
            <a:r>
              <a:rPr lang="ar-EG" sz="2400" b="1" dirty="0">
                <a:solidFill>
                  <a:schemeClr val="bg1"/>
                </a:solidFill>
              </a:rPr>
              <a:t>في السيبراني:</a:t>
            </a:r>
          </a:p>
          <a:p>
            <a:pPr algn="r" rtl="1"/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تفهم الخوف، الطمع، الثقة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مفيش جدول ثابت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مفيش حد بيقيسك غير نفسك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EG" sz="2400" b="1" dirty="0">
              <a:solidFill>
                <a:srgbClr val="C00000"/>
              </a:solidFill>
            </a:endParaRPr>
          </a:p>
          <a:p>
            <a:pPr algn="r" rtl="1"/>
            <a:r>
              <a:rPr lang="ar-EG" sz="2400" b="1" dirty="0">
                <a:solidFill>
                  <a:schemeClr val="bg1"/>
                </a:solidFill>
              </a:rPr>
              <a:t>لو معندكش:</a:t>
            </a:r>
          </a:p>
          <a:p>
            <a:pPr algn="r" rtl="1"/>
            <a:endParaRPr lang="ar-EG" sz="2400" b="1" dirty="0">
              <a:solidFill>
                <a:schemeClr val="bg1"/>
              </a:solidFill>
            </a:endParaRP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التزام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صبر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EG" sz="2400" b="1" dirty="0">
                <a:solidFill>
                  <a:srgbClr val="C00000"/>
                </a:solidFill>
              </a:rPr>
              <a:t>نفس طويل</a:t>
            </a:r>
          </a:p>
          <a:p>
            <a:pPr algn="r" rtl="1"/>
            <a:endParaRPr lang="ar-EG" sz="24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ar-EG" sz="2400" b="1" dirty="0">
                <a:solidFill>
                  <a:schemeClr val="bg1"/>
                </a:solidFill>
              </a:rPr>
              <a:t>هتتعب حتى لو عبقري.</a:t>
            </a:r>
          </a:p>
          <a:p>
            <a:pPr algn="r" rtl="1">
              <a:buClr>
                <a:srgbClr val="00B050"/>
              </a:buClr>
            </a:pPr>
            <a:endParaRPr lang="ar-EG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29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A01CC-7D92-66C1-DED5-DB586F23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C9A11-C8FE-98B3-BEEA-E9B9E284C03E}"/>
              </a:ext>
            </a:extLst>
          </p:cNvPr>
          <p:cNvSpPr txBox="1"/>
          <p:nvPr/>
        </p:nvSpPr>
        <p:spPr>
          <a:xfrm>
            <a:off x="2552412" y="1255751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إزاي تدمج التنمية البشرية مع السيبراني عمليًا؟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81D55-E73F-468D-2B72-738707E17BB6}"/>
              </a:ext>
            </a:extLst>
          </p:cNvPr>
          <p:cNvSpPr txBox="1"/>
          <p:nvPr/>
        </p:nvSpPr>
        <p:spPr>
          <a:xfrm>
            <a:off x="1937982" y="2981446"/>
            <a:ext cx="12228394" cy="6555641"/>
          </a:xfrm>
          <a:prstGeom prst="rect">
            <a:avLst/>
          </a:prstGeom>
          <a:solidFill>
            <a:schemeClr val="tx1">
              <a:alpha val="79000"/>
            </a:schemeClr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ar-EG" sz="2800" b="1" dirty="0">
                <a:solidFill>
                  <a:schemeClr val="bg1"/>
                </a:solidFill>
              </a:rPr>
              <a:t>طوّر طريقة تفكيرك </a:t>
            </a:r>
          </a:p>
          <a:p>
            <a:pPr algn="r" rtl="1"/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ar-EG" sz="2800" b="1" dirty="0">
                <a:solidFill>
                  <a:schemeClr val="bg1"/>
                </a:solidFill>
              </a:rPr>
              <a:t>اسأل دايمًا:</a:t>
            </a:r>
          </a:p>
          <a:p>
            <a:pPr algn="r" rtl="1"/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النظام ده اتصمم ليه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بيشتغل ازي من جوه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مكون من ايه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نقطة الضعف في الإنسان ولا الكود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لو أنا المهاجم هعمل إيه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76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082C7-31AC-9FCC-E1F9-9D8AE8E4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619DD-6454-5CA5-A98D-CDA344863622}"/>
              </a:ext>
            </a:extLst>
          </p:cNvPr>
          <p:cNvSpPr txBox="1"/>
          <p:nvPr/>
        </p:nvSpPr>
        <p:spPr>
          <a:xfrm>
            <a:off x="2552411" y="1132599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إزاي تدمج التنمية البشرية مع السيبراني عمليًا؟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753CA-E2D7-AF30-3079-95501FB52489}"/>
              </a:ext>
            </a:extLst>
          </p:cNvPr>
          <p:cNvSpPr txBox="1"/>
          <p:nvPr/>
        </p:nvSpPr>
        <p:spPr>
          <a:xfrm>
            <a:off x="2013801" y="2763082"/>
            <a:ext cx="12228394" cy="7848302"/>
          </a:xfrm>
          <a:prstGeom prst="rect">
            <a:avLst/>
          </a:prstGeom>
          <a:solidFill>
            <a:schemeClr val="tx1">
              <a:alpha val="79000"/>
            </a:schemeClr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514350" indent="-514350" algn="r" rtl="1">
              <a:buFont typeface="+mj-lt"/>
              <a:buAutoNum type="arabicPeriod" startAt="2"/>
            </a:pPr>
            <a:r>
              <a:rPr lang="ar-EG" sz="2800" b="1" dirty="0">
                <a:solidFill>
                  <a:schemeClr val="bg1"/>
                </a:solidFill>
              </a:rPr>
              <a:t>اشتغل على نفسك</a:t>
            </a:r>
          </a:p>
          <a:p>
            <a:pPr marL="514350" indent="-514350" algn="r" rtl="1">
              <a:buFont typeface="+mj-lt"/>
              <a:buAutoNum type="arabicPeriod" startAt="2"/>
            </a:pP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ar-EG" sz="2800" b="1" dirty="0">
                <a:solidFill>
                  <a:schemeClr val="bg1"/>
                </a:solidFill>
              </a:rPr>
              <a:t>زي ما بتذاكر:</a:t>
            </a:r>
          </a:p>
          <a:p>
            <a:pPr algn="r" rtl="1"/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Windows Internals</a:t>
            </a: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Kernel / Memory</a:t>
            </a: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ar-EG" sz="2800" b="1" dirty="0">
                <a:solidFill>
                  <a:schemeClr val="bg1"/>
                </a:solidFill>
              </a:rPr>
              <a:t>ذاكر: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إدارة التوتر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التركيز العميق </a:t>
            </a:r>
            <a:r>
              <a:rPr lang="en-US" sz="2800" b="1" dirty="0">
                <a:solidFill>
                  <a:schemeClr val="bg1"/>
                </a:solidFill>
              </a:rPr>
              <a:t>(Deep Focus)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لغة الجسد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الصبر العقلي</a:t>
            </a:r>
          </a:p>
        </p:txBody>
      </p:sp>
    </p:spTree>
    <p:extLst>
      <p:ext uri="{BB962C8B-B14F-4D97-AF65-F5344CB8AC3E}">
        <p14:creationId xmlns:p14="http://schemas.microsoft.com/office/powerpoint/2010/main" val="327828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0F24BA-6797-118E-45E9-E3BF5A77F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DFF7BB-0A45-5B70-59CF-4526814725E8}"/>
              </a:ext>
            </a:extLst>
          </p:cNvPr>
          <p:cNvSpPr txBox="1"/>
          <p:nvPr/>
        </p:nvSpPr>
        <p:spPr>
          <a:xfrm>
            <a:off x="2552411" y="1132599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إزاي تدمج التنمية البشرية مع السيبراني عمليًا؟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49D71-832A-19B9-E63C-9C6B1E7F293C}"/>
              </a:ext>
            </a:extLst>
          </p:cNvPr>
          <p:cNvSpPr txBox="1"/>
          <p:nvPr/>
        </p:nvSpPr>
        <p:spPr>
          <a:xfrm>
            <a:off x="2013803" y="2285409"/>
            <a:ext cx="12228394" cy="9140964"/>
          </a:xfrm>
          <a:prstGeom prst="rect">
            <a:avLst/>
          </a:prstGeom>
          <a:solidFill>
            <a:schemeClr val="tx1">
              <a:alpha val="92000"/>
            </a:schemeClr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514350" indent="-514350" algn="r" rtl="1">
              <a:buFont typeface="+mj-lt"/>
              <a:buAutoNum type="arabicPeriod" startAt="3"/>
            </a:pPr>
            <a:r>
              <a:rPr lang="ar-EG" sz="2800" b="1" dirty="0">
                <a:solidFill>
                  <a:schemeClr val="bg1"/>
                </a:solidFill>
              </a:rPr>
              <a:t>اختار تنمية بشرية ذكية</a:t>
            </a:r>
          </a:p>
          <a:p>
            <a:pPr algn="r" rtl="1"/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ar-EG" sz="2800" b="1" dirty="0">
                <a:solidFill>
                  <a:schemeClr val="bg1"/>
                </a:solidFill>
              </a:rPr>
              <a:t>ركز على:</a:t>
            </a:r>
          </a:p>
          <a:p>
            <a:pPr algn="r" rtl="1"/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Critical Thinking</a:t>
            </a: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Decision Making</a:t>
            </a: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Psychology</a:t>
            </a:r>
            <a:r>
              <a:rPr lang="ar-EG" sz="2800" b="1" dirty="0">
                <a:solidFill>
                  <a:srgbClr val="C00000"/>
                </a:solidFill>
              </a:rPr>
              <a:t> (خصوصًا السلوك البشري)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</a:rPr>
              <a:t>Mental Models</a:t>
            </a: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C00000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ar-EG" sz="2800" b="1" dirty="0">
                <a:solidFill>
                  <a:schemeClr val="bg1"/>
                </a:solidFill>
              </a:rPr>
              <a:t>وابعد عن:</a:t>
            </a:r>
          </a:p>
          <a:p>
            <a:pPr marL="457200" indent="-457200" algn="r" rtl="1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  ❌</a:t>
            </a:r>
            <a:r>
              <a:rPr lang="ar-EG" sz="2800" b="1" dirty="0">
                <a:solidFill>
                  <a:schemeClr val="bg1">
                    <a:lumMod val="95000"/>
                  </a:schemeClr>
                </a:solidFill>
              </a:rPr>
              <a:t>كلام الطاقة</a:t>
            </a:r>
            <a:endParaRPr lang="en-US" sz="2800"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>
                  <a:lumMod val="95000"/>
                </a:schemeClr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❌ التحفيز الفارغ</a:t>
            </a:r>
            <a:endParaRPr lang="en-US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❌ الوعود السريعة</a:t>
            </a:r>
            <a:endParaRPr lang="en-US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0B654-AFEF-AB7F-205F-E64ACE572D4C}"/>
              </a:ext>
            </a:extLst>
          </p:cNvPr>
          <p:cNvSpPr txBox="1"/>
          <p:nvPr/>
        </p:nvSpPr>
        <p:spPr>
          <a:xfrm>
            <a:off x="2347694" y="8751077"/>
            <a:ext cx="5158853" cy="2308324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5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Notes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</a:p>
          <a:p>
            <a:pPr algn="r"/>
            <a:r>
              <a:rPr lang="ar-EG" sz="2400" dirty="0">
                <a:solidFill>
                  <a:srgbClr val="00B050"/>
                </a:solidFill>
              </a:rPr>
              <a:t>الأمن السيبراني =</a:t>
            </a:r>
            <a:endParaRPr lang="en-US" sz="2400" dirty="0">
              <a:solidFill>
                <a:srgbClr val="00B050"/>
              </a:solidFill>
            </a:endParaRPr>
          </a:p>
          <a:p>
            <a:pPr algn="r"/>
            <a:r>
              <a:rPr lang="ar-EG" sz="2400" b="1" dirty="0">
                <a:solidFill>
                  <a:srgbClr val="00B050"/>
                </a:solidFill>
              </a:rPr>
              <a:t>عقل</a:t>
            </a:r>
            <a:endParaRPr lang="en-US" sz="2400" b="1" dirty="0">
              <a:solidFill>
                <a:srgbClr val="00B050"/>
              </a:solidFill>
            </a:endParaRPr>
          </a:p>
          <a:p>
            <a:pPr algn="r"/>
            <a:r>
              <a:rPr lang="ar-EG" sz="2400" b="1" dirty="0">
                <a:solidFill>
                  <a:srgbClr val="00B050"/>
                </a:solidFill>
              </a:rPr>
              <a:t>نفس هادية</a:t>
            </a:r>
            <a:endParaRPr lang="en-US" sz="2400" b="1" dirty="0">
              <a:solidFill>
                <a:srgbClr val="00B050"/>
              </a:solidFill>
            </a:endParaRPr>
          </a:p>
          <a:p>
            <a:pPr algn="r"/>
            <a:r>
              <a:rPr lang="ar-EG" sz="2400" b="1" dirty="0">
                <a:solidFill>
                  <a:srgbClr val="00B050"/>
                </a:solidFill>
              </a:rPr>
              <a:t>وعي</a:t>
            </a:r>
            <a:endParaRPr lang="en-US" sz="2400" b="1" dirty="0">
              <a:solidFill>
                <a:srgbClr val="00B050"/>
              </a:solidFill>
            </a:endParaRPr>
          </a:p>
          <a:p>
            <a:pPr algn="r"/>
            <a:r>
              <a:rPr lang="ar-EG" sz="2400" b="1" dirty="0">
                <a:solidFill>
                  <a:srgbClr val="00B050"/>
                </a:solidFill>
              </a:rPr>
              <a:t>تقنية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78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8D1A6-FE2A-27E3-E6A8-83C79245B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16BAF-4E5E-9893-3962-AFCAE960688E}"/>
              </a:ext>
            </a:extLst>
          </p:cNvPr>
          <p:cNvSpPr txBox="1"/>
          <p:nvPr/>
        </p:nvSpPr>
        <p:spPr>
          <a:xfrm>
            <a:off x="2552412" y="1091656"/>
            <a:ext cx="11151175" cy="523220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800" b="1" dirty="0">
                <a:solidFill>
                  <a:schemeClr val="bg1"/>
                </a:solidFill>
              </a:rPr>
              <a:t>حين يصبح الإنسان هو الثغرة: الابتزاز الإلكتروني والهندسة الاجتماعية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629B1E-82D3-2368-898D-1A30BEB7F80D}"/>
              </a:ext>
            </a:extLst>
          </p:cNvPr>
          <p:cNvSpPr txBox="1"/>
          <p:nvPr/>
        </p:nvSpPr>
        <p:spPr>
          <a:xfrm>
            <a:off x="1918267" y="2110124"/>
            <a:ext cx="12228394" cy="2246769"/>
          </a:xfrm>
          <a:prstGeom prst="rect">
            <a:avLst/>
          </a:prstGeom>
          <a:solidFill>
            <a:schemeClr val="tx1">
              <a:alpha val="92000"/>
            </a:schemeClr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 rtl="1"/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algn="ctr" rtl="1"/>
            <a:r>
              <a:rPr lang="ar-EG" sz="2800" b="1" dirty="0">
                <a:solidFill>
                  <a:schemeClr val="bg1">
                    <a:lumMod val="85000"/>
                  </a:schemeClr>
                </a:solidFill>
              </a:rPr>
              <a:t>الهندسة الاجتماعية: السلاح الأخطر في الهجمات الإلكترونية الحديثة</a:t>
            </a:r>
            <a:endParaRPr lang="en-US" sz="2800" b="1" dirty="0">
              <a:solidFill>
                <a:schemeClr val="bg1">
                  <a:lumMod val="85000"/>
                </a:schemeClr>
              </a:solidFill>
            </a:endParaRPr>
          </a:p>
          <a:p>
            <a:pPr algn="ctr" rtl="1"/>
            <a:endParaRPr lang="ar-EG" sz="2800" b="1" dirty="0">
              <a:solidFill>
                <a:srgbClr val="C00000"/>
              </a:solidFill>
            </a:endParaRPr>
          </a:p>
          <a:p>
            <a:pPr algn="ctr" rtl="1"/>
            <a:r>
              <a:rPr lang="ar-EG" sz="2800" b="1" dirty="0">
                <a:solidFill>
                  <a:schemeClr val="bg1"/>
                </a:solidFill>
              </a:rPr>
              <a:t>العقل المستهدف: التصيّد والابتزاز كحروب نفسية رقمية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3C7B4-2EB9-2EF1-2940-CCE24A5EFA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426" y="4852141"/>
            <a:ext cx="4472319" cy="55848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4521A1-01F3-5D38-959B-E7BED3C73C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02" y="4852141"/>
            <a:ext cx="5361558" cy="53854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FE315D-2145-EFE9-1CD3-D17EA68F70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183" y="6096000"/>
            <a:ext cx="4472319" cy="339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8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EAAC5-8CDE-1A5D-F2B8-1DC4E461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8F5978-75F5-9CC6-BEA5-D63ABE4FAE49}"/>
              </a:ext>
            </a:extLst>
          </p:cNvPr>
          <p:cNvSpPr txBox="1"/>
          <p:nvPr/>
        </p:nvSpPr>
        <p:spPr>
          <a:xfrm>
            <a:off x="2552412" y="996443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3BF97-78C3-4356-3311-4ED97A58A1DB}"/>
              </a:ext>
            </a:extLst>
          </p:cNvPr>
          <p:cNvSpPr txBox="1"/>
          <p:nvPr/>
        </p:nvSpPr>
        <p:spPr>
          <a:xfrm>
            <a:off x="1937982" y="2981446"/>
            <a:ext cx="12228394" cy="5693866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r" rtl="1"/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</a:p>
          <a:p>
            <a:pPr marL="457200" indent="-457200" algn="ctr" rtl="1"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في معظم الهجمات الإلكترونية، المجرم مش محتاج يكسر نظام،</a:t>
            </a:r>
          </a:p>
          <a:p>
            <a:pPr marL="457200" indent="-457200" algn="ctr" rtl="1"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ولا يستغل ثغرة معقدة، كل اللي محتاجه… إنسان يصدق.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رسالة بسيطة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رابط شكله طبيعي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C00000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مكالمة بصوت مطمئن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أو حساب مزيف بصورة مقنعة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C00000"/>
                </a:solidFill>
              </a:rPr>
              <a:t>ومن هنا يبدأ الاختراق</a:t>
            </a:r>
          </a:p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250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33E363-7643-628A-40A7-31F3F234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381FB-44B3-5689-25F7-E16E703B3785}"/>
              </a:ext>
            </a:extLst>
          </p:cNvPr>
          <p:cNvSpPr txBox="1"/>
          <p:nvPr/>
        </p:nvSpPr>
        <p:spPr>
          <a:xfrm>
            <a:off x="2552412" y="996443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28AC7-A978-2DA2-D0CA-A2DBEB8F09E0}"/>
              </a:ext>
            </a:extLst>
          </p:cNvPr>
          <p:cNvSpPr txBox="1"/>
          <p:nvPr/>
        </p:nvSpPr>
        <p:spPr>
          <a:xfrm>
            <a:off x="1937982" y="2981446"/>
            <a:ext cx="12228394" cy="5693866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342900" indent="-3429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الابتزاز الإلكتروني، التصيّد، والخداع الرقمي مش جرائم تقنية بس،</a:t>
            </a:r>
          </a:p>
          <a:p>
            <a:pPr algn="r" rtl="1">
              <a:buClr>
                <a:schemeClr val="bg1"/>
              </a:buClr>
            </a:pPr>
            <a:r>
              <a:rPr lang="ar-EG" sz="2800" b="1" dirty="0">
                <a:solidFill>
                  <a:schemeClr val="bg1"/>
                </a:solidFill>
              </a:rPr>
              <a:t>دي جرائم نفسية قبل أي حاجة.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accent1"/>
                </a:solidFill>
              </a:rPr>
              <a:t>بتستهدف الخوف، الفضول، الطمع، أو الثقة الزائدة.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في المحاضرة دي هنتكلم عن إزاي المهاجم بيفكّر،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FF0000"/>
                </a:solidFill>
              </a:rPr>
              <a:t>إزاي بيختار ضحيته،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وإزاي بيحوّل لحظة غفلة بسيطة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إلى سيطرة كاملة وابتزاز طويل.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الهدف مش إننا نخوف،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الهدف إننا نفهم.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لأن أول خطوة في الحماية…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إنك تعرف إزاي بيتخدع الإنسان.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367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D0DBE-7DB8-3A83-6990-79E80B6F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EBD86-88E6-46AB-ACAF-D207E5C91C32}"/>
              </a:ext>
            </a:extLst>
          </p:cNvPr>
          <p:cNvSpPr txBox="1"/>
          <p:nvPr/>
        </p:nvSpPr>
        <p:spPr>
          <a:xfrm>
            <a:off x="2694955" y="723487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38A1A-73BE-098B-5E19-99AABFD81082}"/>
              </a:ext>
            </a:extLst>
          </p:cNvPr>
          <p:cNvSpPr txBox="1"/>
          <p:nvPr/>
        </p:nvSpPr>
        <p:spPr>
          <a:xfrm>
            <a:off x="2211836" y="1610435"/>
            <a:ext cx="11832328" cy="10002738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/>
            </a:pPr>
            <a:r>
              <a:rPr lang="ar-EG" sz="2800" b="1" dirty="0">
                <a:solidFill>
                  <a:srgbClr val="FF0000"/>
                </a:solidFill>
              </a:rPr>
              <a:t>إزاي المهاجم بيفكّر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المهاجم مش بيبدأ بالكود… بيبدأ بالسؤال:</a:t>
            </a:r>
          </a:p>
          <a:p>
            <a:pPr marL="514350" indent="-514350" algn="r" rtl="1">
              <a:buClr>
                <a:schemeClr val="bg1"/>
              </a:buClr>
              <a:buFont typeface="+mj-lt"/>
              <a:buAutoNum type="arabicPeriod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مين أضعف نقطة؟ الإنسان ولا النظام؟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تفكيره بيكون كده:</a:t>
            </a:r>
          </a:p>
          <a:p>
            <a:pPr marL="514350" indent="-514350" algn="r" rtl="1">
              <a:buClr>
                <a:schemeClr val="bg1"/>
              </a:buClr>
              <a:buFont typeface="+mj-lt"/>
              <a:buAutoNum type="arabicPeriod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الإنسان أسهل من النظام: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سيستم ممكن يكون محمي، إنما إنسان متوتر أو مستعجل = ثغرة.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FF0000"/>
                </a:solidFill>
              </a:rPr>
              <a:t>تمثيل أدوار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FF0000"/>
              </a:solidFill>
            </a:endParaRPr>
          </a:p>
          <a:p>
            <a:pPr algn="r" rtl="1">
              <a:buClr>
                <a:schemeClr val="bg1"/>
              </a:buClr>
            </a:pPr>
            <a:r>
              <a:rPr lang="ar-EG" sz="2800" b="1" dirty="0">
                <a:solidFill>
                  <a:schemeClr val="bg1"/>
                </a:solidFill>
              </a:rPr>
              <a:t>مرة صديق، مرة دعم فني، مرة جهة رسمية، مرة شخص محتاج مساعدة.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FF0000"/>
                </a:solidFill>
              </a:rPr>
              <a:t>الوقت عدو الضحية: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FF0000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دايمًا يخليك تستعجل: حالًا – فورًا – آخر فرصة.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مش عايز الكل: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عايز شخص واحد مناسب… وده كفاية جدًا.</a:t>
            </a:r>
          </a:p>
        </p:txBody>
      </p:sp>
    </p:spTree>
    <p:extLst>
      <p:ext uri="{BB962C8B-B14F-4D97-AF65-F5344CB8AC3E}">
        <p14:creationId xmlns:p14="http://schemas.microsoft.com/office/powerpoint/2010/main" val="14229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460EEC-F6F6-0ACC-93E8-8BD759918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8D0413-ACED-B991-9782-7136634763DB}"/>
              </a:ext>
            </a:extLst>
          </p:cNvPr>
          <p:cNvSpPr txBox="1"/>
          <p:nvPr/>
        </p:nvSpPr>
        <p:spPr>
          <a:xfrm>
            <a:off x="2694955" y="723487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2FAE69-71CA-165E-57C6-53BC680861FA}"/>
              </a:ext>
            </a:extLst>
          </p:cNvPr>
          <p:cNvSpPr txBox="1"/>
          <p:nvPr/>
        </p:nvSpPr>
        <p:spPr>
          <a:xfrm>
            <a:off x="2211836" y="1610435"/>
            <a:ext cx="11832328" cy="9571851"/>
          </a:xfrm>
          <a:prstGeom prst="rect">
            <a:avLst/>
          </a:prstGeom>
          <a:solidFill>
            <a:schemeClr val="tx1"/>
          </a:solidFill>
          <a:effectLst>
            <a:glow rad="1041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2"/>
            </a:pPr>
            <a:r>
              <a:rPr lang="ar-EG" sz="2800" b="1" dirty="0">
                <a:solidFill>
                  <a:srgbClr val="FF0000"/>
                </a:solidFill>
              </a:rPr>
              <a:t>إزاي بيختار ضحيته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  <a:r>
              <a:rPr lang="en-US" sz="2800" b="1" dirty="0">
                <a:solidFill>
                  <a:schemeClr val="bg1"/>
                </a:solidFill>
              </a:rPr>
              <a:t>  </a:t>
            </a:r>
            <a:r>
              <a:rPr lang="ar-EG" sz="2800" b="1" dirty="0">
                <a:solidFill>
                  <a:schemeClr val="bg1"/>
                </a:solidFill>
              </a:rPr>
              <a:t>الاختيار مش عشوائي: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المهاجم بيدوّر على</a:t>
            </a:r>
            <a:r>
              <a:rPr lang="en-US" sz="2800" b="1" dirty="0">
                <a:solidFill>
                  <a:schemeClr val="bg1"/>
                </a:solidFill>
              </a:rPr>
              <a:t>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ناس ظاهرين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نشاط كتير على السوشيال، معلومات شخصية منشورة، صور، علاقات.</a:t>
            </a:r>
            <a:endParaRPr lang="en-US" sz="2800" b="1" dirty="0">
              <a:solidFill>
                <a:schemeClr val="bg1"/>
              </a:solidFill>
            </a:endParaRP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ناس تحت ضغط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طالب، شخص محتاج شغل، حد عنده مشكلة أو خوف.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ناس طيبين زيادة عن اللزوم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بيثقوا بسرعة، بيحبوا يساعدوا، ما بيشكّوش.</a:t>
            </a:r>
            <a:endParaRPr lang="en-US" sz="2800" b="1" dirty="0">
              <a:solidFill>
                <a:schemeClr val="bg1"/>
              </a:solidFill>
            </a:endParaRP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حسابات ضعيفة الحماية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مفيش توثيق ثنائي، إيميل مهمل، باسورد قديم.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ببساطة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الضحية مش أضعف الناس أحيانًا أكثرهم ثقة.</a:t>
            </a:r>
          </a:p>
        </p:txBody>
      </p:sp>
    </p:spTree>
    <p:extLst>
      <p:ext uri="{BB962C8B-B14F-4D97-AF65-F5344CB8AC3E}">
        <p14:creationId xmlns:p14="http://schemas.microsoft.com/office/powerpoint/2010/main" val="2196885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E2745-C731-9B86-C978-C2A1D315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3930A6-3196-33F2-6222-FADAF0B2E001}"/>
              </a:ext>
            </a:extLst>
          </p:cNvPr>
          <p:cNvSpPr txBox="1"/>
          <p:nvPr/>
        </p:nvSpPr>
        <p:spPr>
          <a:xfrm>
            <a:off x="2694955" y="723487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01515-8CBC-4D34-FF39-05290E07907E}"/>
              </a:ext>
            </a:extLst>
          </p:cNvPr>
          <p:cNvSpPr txBox="1"/>
          <p:nvPr/>
        </p:nvSpPr>
        <p:spPr>
          <a:xfrm>
            <a:off x="2354378" y="1532204"/>
            <a:ext cx="11832328" cy="10433625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3"/>
            </a:pPr>
            <a:r>
              <a:rPr lang="ar-EG" sz="2800" b="1" dirty="0">
                <a:solidFill>
                  <a:srgbClr val="FF0000"/>
                </a:solidFill>
              </a:rPr>
              <a:t>إزاي بيحوّل لحظة غفلة بسيطة إلى سيطرة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  <a:r>
              <a:rPr lang="en-US" sz="2800" b="1" dirty="0">
                <a:solidFill>
                  <a:schemeClr val="bg1"/>
                </a:solidFill>
              </a:rPr>
              <a:t>   </a:t>
            </a:r>
            <a:r>
              <a:rPr lang="ar-EG" sz="2800" b="1" dirty="0">
                <a:solidFill>
                  <a:schemeClr val="bg1"/>
                </a:solidFill>
              </a:rPr>
              <a:t>هنا أخطر مرحلة 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السيناريو النفسي بيكون: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طُعم بسيط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رسالة، رابط، ملف، مكالمة، طلب عادي جدًا.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خطوة صغيرة من الضحية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ضغط، رد، إرسال كود، فتح ملف.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غلق المصيدة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chemeClr val="bg1"/>
                </a:solidFill>
              </a:rPr>
              <a:t>فجأة المهاجم بقى عنده: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حساب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صور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محادثات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وصول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التحول لابتزاز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لو ما عملتش كذا… هحصل كذا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السيطرة الطويلة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خوف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 صمت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طاعة 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 إنهاك نفسي.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الابتزاز مش ضربة واحدة</a:t>
            </a:r>
            <a:r>
              <a:rPr lang="en-US" sz="2800" b="1" dirty="0">
                <a:solidFill>
                  <a:schemeClr val="bg1"/>
                </a:solidFill>
              </a:rPr>
              <a:t>  </a:t>
            </a:r>
            <a:r>
              <a:rPr lang="ar-EG" sz="2800" b="1" dirty="0">
                <a:solidFill>
                  <a:schemeClr val="bg1"/>
                </a:solidFill>
              </a:rPr>
              <a:t>ده استنزاف بطيء.</a:t>
            </a:r>
          </a:p>
        </p:txBody>
      </p:sp>
    </p:spTree>
    <p:extLst>
      <p:ext uri="{BB962C8B-B14F-4D97-AF65-F5344CB8AC3E}">
        <p14:creationId xmlns:p14="http://schemas.microsoft.com/office/powerpoint/2010/main" val="388345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A681D-021A-7224-9C3D-6957EEFF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EB9054-7D9D-778C-F798-10DBA125D55E}"/>
              </a:ext>
            </a:extLst>
          </p:cNvPr>
          <p:cNvSpPr txBox="1"/>
          <p:nvPr/>
        </p:nvSpPr>
        <p:spPr>
          <a:xfrm>
            <a:off x="2694955" y="723487"/>
            <a:ext cx="11151175" cy="461665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2400" b="1" dirty="0">
                <a:solidFill>
                  <a:schemeClr val="bg1"/>
                </a:solidFill>
              </a:rPr>
              <a:t>حروب نفسية من رسالة بريئة إلى ابتزاز كامل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23E2F-ACB2-343B-2E22-161C5A9D7F24}"/>
              </a:ext>
            </a:extLst>
          </p:cNvPr>
          <p:cNvSpPr txBox="1"/>
          <p:nvPr/>
        </p:nvSpPr>
        <p:spPr>
          <a:xfrm>
            <a:off x="2211836" y="2171849"/>
            <a:ext cx="11832328" cy="7848302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4"/>
            </a:pPr>
            <a:r>
              <a:rPr lang="ar-EG" sz="2800" b="1" dirty="0">
                <a:solidFill>
                  <a:srgbClr val="FF0000"/>
                </a:solidFill>
              </a:rPr>
              <a:t>ليه الهدف مش التخويف</a:t>
            </a:r>
            <a:r>
              <a:rPr lang="ar-EG" sz="2800" b="1" dirty="0">
                <a:solidFill>
                  <a:schemeClr val="bg1"/>
                </a:solidFill>
              </a:rPr>
              <a:t>؟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pPr marL="514350" indent="-514350" algn="r" rtl="1">
              <a:buClr>
                <a:schemeClr val="bg1"/>
              </a:buClr>
              <a:buFont typeface="+mj-lt"/>
              <a:buAutoNum type="arabicPeriod" startAt="4"/>
            </a:pP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لأن الخوف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بيشل التفكير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بيخليك تغلط أكتر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بيخدم المهاجم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الفهم هو السلاح الحقيقي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لما تفهم الأسلوب → بتشك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لما تشك → بتتوقف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لما تتوقف → الهجوم يفشل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أغلب الهجمات بتفشل لو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هديت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فكّرت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وما استعجلتش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FF0000"/>
                </a:solidFill>
              </a:rPr>
              <a:t>أول خط دفاع مش برنامج</a:t>
            </a:r>
            <a:r>
              <a:rPr lang="en-US" sz="2800" b="1" dirty="0">
                <a:solidFill>
                  <a:srgbClr val="FF0000"/>
                </a:solidFill>
              </a:rPr>
              <a:t>.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00B0F0"/>
                </a:solidFill>
              </a:rPr>
              <a:t>أول خط دفاع هو وعي الإنسان.</a:t>
            </a:r>
          </a:p>
        </p:txBody>
      </p:sp>
    </p:spTree>
    <p:extLst>
      <p:ext uri="{BB962C8B-B14F-4D97-AF65-F5344CB8AC3E}">
        <p14:creationId xmlns:p14="http://schemas.microsoft.com/office/powerpoint/2010/main" val="408853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CB9DB-1AC3-2D1F-A6C0-1ACABA8C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A8A2CE-B934-9D07-86C7-8915F1F4720B}"/>
              </a:ext>
            </a:extLst>
          </p:cNvPr>
          <p:cNvSpPr txBox="1"/>
          <p:nvPr/>
        </p:nvSpPr>
        <p:spPr>
          <a:xfrm>
            <a:off x="2694955" y="723487"/>
            <a:ext cx="11151175" cy="646331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3600" b="1" dirty="0">
                <a:solidFill>
                  <a:schemeClr val="bg1"/>
                </a:solidFill>
              </a:rPr>
              <a:t> - الاستكشاف</a:t>
            </a:r>
            <a:r>
              <a:rPr lang="en-US" sz="3600" b="1" dirty="0">
                <a:solidFill>
                  <a:schemeClr val="bg1"/>
                </a:solidFill>
              </a:rPr>
              <a:t>Mapping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4A0B7C-0245-316E-F6A4-CC3EBAED2E10}"/>
              </a:ext>
            </a:extLst>
          </p:cNvPr>
          <p:cNvSpPr txBox="1"/>
          <p:nvPr/>
        </p:nvSpPr>
        <p:spPr>
          <a:xfrm>
            <a:off x="2211836" y="2171849"/>
            <a:ext cx="11832328" cy="6986528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/>
            </a:pPr>
            <a:r>
              <a:rPr lang="ar-EG" sz="2800" b="1" dirty="0">
                <a:solidFill>
                  <a:srgbClr val="FF0000"/>
                </a:solidFill>
              </a:rPr>
              <a:t>المهاجم بيرسم خريطة للضحية</a:t>
            </a:r>
            <a:r>
              <a:rPr lang="ar-EG" sz="2800" b="1" dirty="0">
                <a:solidFill>
                  <a:schemeClr val="bg1"/>
                </a:solidFill>
              </a:rPr>
              <a:t> :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جمع معلومات من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السوشيال ميديا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الإيميل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التعليقات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الصور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العلاقات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تحليل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الشخصية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نقاط الضعف النفسية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مستوى الوعي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هل في ضغط؟ خوف؟ احتياج؟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chemeClr val="bg1"/>
                </a:solidFill>
              </a:rPr>
              <a:t>الهدف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اختيار إنسان مناسب، مش أي إنسان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285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DE56E-2742-3355-C7A9-C0A33F5C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85058-A9ED-5EC0-071F-8978285F04F4}"/>
              </a:ext>
            </a:extLst>
          </p:cNvPr>
          <p:cNvSpPr txBox="1"/>
          <p:nvPr/>
        </p:nvSpPr>
        <p:spPr>
          <a:xfrm>
            <a:off x="2694955" y="723487"/>
            <a:ext cx="11151175" cy="646331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3600" b="1" dirty="0">
                <a:solidFill>
                  <a:schemeClr val="bg1"/>
                </a:solidFill>
              </a:rPr>
              <a:t> - الاقتراب</a:t>
            </a:r>
            <a:r>
              <a:rPr lang="en-US" sz="3600" b="1" dirty="0">
                <a:solidFill>
                  <a:schemeClr val="bg1"/>
                </a:solidFill>
              </a:rPr>
              <a:t>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8882AA-9380-03BF-AD07-C70077BB4D14}"/>
              </a:ext>
            </a:extLst>
          </p:cNvPr>
          <p:cNvSpPr txBox="1"/>
          <p:nvPr/>
        </p:nvSpPr>
        <p:spPr>
          <a:xfrm>
            <a:off x="2211836" y="2171849"/>
            <a:ext cx="11832328" cy="6986528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2"/>
            </a:pPr>
            <a:r>
              <a:rPr lang="ar-EG" sz="2800" b="1" dirty="0">
                <a:solidFill>
                  <a:srgbClr val="FF0000"/>
                </a:solidFill>
              </a:rPr>
              <a:t>بداية الاتصال بدون شك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رسالة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مكالمة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حساب مزيف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لينك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طلب بسيط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الأسلوب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صديق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جهة رسمية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دعم فني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فرصة مغرية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تهديد خفيف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الهدف؟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كسب الثقة أو خلق استعجال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75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D95DA-1333-F35A-2278-F9DEE246D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B1962-6B98-E69E-2081-4F936D71D8E7}"/>
              </a:ext>
            </a:extLst>
          </p:cNvPr>
          <p:cNvSpPr txBox="1"/>
          <p:nvPr/>
        </p:nvSpPr>
        <p:spPr>
          <a:xfrm>
            <a:off x="2694955" y="723487"/>
            <a:ext cx="11151175" cy="646331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3600" b="1" dirty="0">
                <a:solidFill>
                  <a:schemeClr val="bg1"/>
                </a:solidFill>
              </a:rPr>
              <a:t> - التفاعل</a:t>
            </a:r>
            <a:r>
              <a:rPr lang="en-US" sz="3600" b="1" dirty="0">
                <a:solidFill>
                  <a:schemeClr val="bg1"/>
                </a:solidFill>
              </a:rPr>
              <a:t>Interaction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DCECA-4155-36D8-74A5-0862BCF4ECE2}"/>
              </a:ext>
            </a:extLst>
          </p:cNvPr>
          <p:cNvSpPr txBox="1"/>
          <p:nvPr/>
        </p:nvSpPr>
        <p:spPr>
          <a:xfrm>
            <a:off x="2211836" y="1776064"/>
            <a:ext cx="11832328" cy="6555641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3"/>
            </a:pPr>
            <a:r>
              <a:rPr lang="ar-EG" sz="2800" b="1" dirty="0">
                <a:solidFill>
                  <a:srgbClr val="FF0000"/>
                </a:solidFill>
              </a:rPr>
              <a:t>الضحية دخلت اللعبة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ردّت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ضغطت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فتحت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بعتت كود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بعتت معلومة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بعتت صورة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هنا: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المهاجم بيقيس رد الفعل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بيختبر الحدود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بيقرر يكمل أو ينسحب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الهدف؟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أول خطوة غفلة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34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EC4ED-86D9-47DF-2DDA-1162C2422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EBFFE0-9547-A0F6-22BD-93ABCEBE084A}"/>
              </a:ext>
            </a:extLst>
          </p:cNvPr>
          <p:cNvSpPr txBox="1"/>
          <p:nvPr/>
        </p:nvSpPr>
        <p:spPr>
          <a:xfrm>
            <a:off x="2694955" y="723487"/>
            <a:ext cx="11151175" cy="646331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3600" b="1" dirty="0">
                <a:solidFill>
                  <a:schemeClr val="bg1"/>
                </a:solidFill>
              </a:rPr>
              <a:t> - الخطر أو الإدراك</a:t>
            </a:r>
            <a:r>
              <a:rPr lang="en-US" sz="3600" b="1" dirty="0">
                <a:solidFill>
                  <a:schemeClr val="bg1"/>
                </a:solidFill>
              </a:rPr>
              <a:t>Risk / Realization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332A6-AD44-BEF7-AC74-1E7C419FA522}"/>
              </a:ext>
            </a:extLst>
          </p:cNvPr>
          <p:cNvSpPr txBox="1"/>
          <p:nvPr/>
        </p:nvSpPr>
        <p:spPr>
          <a:xfrm>
            <a:off x="2354378" y="2089964"/>
            <a:ext cx="11832328" cy="6124754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4"/>
            </a:pPr>
            <a:r>
              <a:rPr lang="ar-EG" sz="2800" b="1" dirty="0">
                <a:solidFill>
                  <a:srgbClr val="FF0000"/>
                </a:solidFill>
              </a:rPr>
              <a:t>لحظة التحول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</a:p>
          <a:p>
            <a:pPr marL="514350" indent="-514350" algn="r" rtl="1">
              <a:buClr>
                <a:schemeClr val="bg1"/>
              </a:buClr>
              <a:buFont typeface="+mj-lt"/>
              <a:buAutoNum type="arabicPeriod" startAt="4"/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chemeClr val="bg1"/>
                </a:solidFill>
              </a:rPr>
              <a:t>إما:  </a:t>
            </a:r>
            <a:r>
              <a:rPr lang="ar-EG" sz="2800" b="1" dirty="0">
                <a:solidFill>
                  <a:srgbClr val="FF0000"/>
                </a:solidFill>
              </a:rPr>
              <a:t>الضحية</a:t>
            </a:r>
            <a:r>
              <a:rPr lang="ar-EG" sz="2800" b="1" dirty="0">
                <a:solidFill>
                  <a:schemeClr val="bg1"/>
                </a:solidFill>
              </a:rPr>
              <a:t> تدرك الخطر </a:t>
            </a:r>
            <a:r>
              <a:rPr lang="ar-EG" sz="2800" b="1" dirty="0">
                <a:solidFill>
                  <a:srgbClr val="FF0000"/>
                </a:solidFill>
              </a:rPr>
              <a:t>→</a:t>
            </a:r>
            <a:r>
              <a:rPr lang="ar-EG" sz="2800" b="1" dirty="0">
                <a:solidFill>
                  <a:schemeClr val="bg1"/>
                </a:solidFill>
              </a:rPr>
              <a:t> الهجوم </a:t>
            </a:r>
            <a:r>
              <a:rPr lang="ar-EG" sz="2800" b="1" dirty="0">
                <a:solidFill>
                  <a:srgbClr val="FF0000"/>
                </a:solidFill>
              </a:rPr>
              <a:t>يفشل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rgbClr val="FF0000"/>
              </a:solidFill>
            </a:endParaRPr>
          </a:p>
          <a:p>
            <a:pPr algn="r" rtl="1">
              <a:buClr>
                <a:schemeClr val="bg1"/>
              </a:buClr>
            </a:pPr>
            <a:r>
              <a:rPr lang="ar-EG" sz="2800" b="1" dirty="0">
                <a:solidFill>
                  <a:srgbClr val="FF0000"/>
                </a:solidFill>
              </a:rPr>
              <a:t>أو:</a:t>
            </a:r>
          </a:p>
          <a:p>
            <a:pPr algn="r" rtl="1">
              <a:buClr>
                <a:schemeClr val="bg1"/>
              </a:buClr>
            </a:pPr>
            <a:endParaRPr lang="ar-EG" sz="2800" b="1" dirty="0">
              <a:solidFill>
                <a:srgbClr val="FF0000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المهاجم يحصل على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وصول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صور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حساب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بيانات حساسة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الهدف للمهاجم ؟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امتلاك شيء يُستخدم للضغط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53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4963D-9BA3-200C-11A7-D73DBFE4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18B8C-DD8E-2403-AFA9-06EAF3341FFE}"/>
              </a:ext>
            </a:extLst>
          </p:cNvPr>
          <p:cNvSpPr txBox="1"/>
          <p:nvPr/>
        </p:nvSpPr>
        <p:spPr>
          <a:xfrm>
            <a:off x="2694955" y="723487"/>
            <a:ext cx="11151175" cy="646331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ar-EG" sz="3600" b="1" dirty="0">
                <a:solidFill>
                  <a:schemeClr val="bg1"/>
                </a:solidFill>
              </a:rPr>
              <a:t> - السيطرة</a:t>
            </a:r>
            <a:r>
              <a:rPr lang="en-US" sz="3600" b="1" dirty="0">
                <a:solidFill>
                  <a:schemeClr val="bg1"/>
                </a:solidFill>
              </a:rPr>
              <a:t>Domination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75519-5624-B843-319C-F89B9BBD9ED0}"/>
              </a:ext>
            </a:extLst>
          </p:cNvPr>
          <p:cNvSpPr txBox="1"/>
          <p:nvPr/>
        </p:nvSpPr>
        <p:spPr>
          <a:xfrm>
            <a:off x="2354378" y="1898895"/>
            <a:ext cx="11832328" cy="8710077"/>
          </a:xfrm>
          <a:prstGeom prst="rect">
            <a:avLst/>
          </a:prstGeom>
          <a:solidFill>
            <a:schemeClr val="tx1"/>
          </a:solidFill>
          <a:effectLst>
            <a:glow rad="152400">
              <a:srgbClr val="C00000">
                <a:alpha val="40000"/>
              </a:srgbClr>
            </a:glow>
            <a:outerShdw blurRad="50800" dist="38100" dir="5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14350" indent="-514350" algn="r" rtl="1">
              <a:buClr>
                <a:schemeClr val="bg1"/>
              </a:buClr>
              <a:buFont typeface="+mj-lt"/>
              <a:buAutoNum type="arabicPeriod" startAt="5"/>
            </a:pPr>
            <a:r>
              <a:rPr lang="ar-EG" sz="2800" b="1" dirty="0">
                <a:solidFill>
                  <a:srgbClr val="FF0000"/>
                </a:solidFill>
              </a:rPr>
              <a:t>الابتزاز والسيطرة النفسية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تهديد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تشهير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طلبات متكررة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استنزاف نفسي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النتيجة: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خوف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صمت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طاعة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إنهاك طويل</a:t>
            </a: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المهاجم يحصل على</a:t>
            </a:r>
            <a:r>
              <a:rPr lang="ar-EG" sz="2800" b="1" dirty="0">
                <a:solidFill>
                  <a:schemeClr val="bg1"/>
                </a:solidFill>
              </a:rPr>
              <a:t>: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وصول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صور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حساب</a:t>
            </a:r>
          </a:p>
          <a:p>
            <a:pPr marL="514350" indent="-51435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بيانات حساسة</a:t>
            </a:r>
          </a:p>
          <a:p>
            <a:pPr algn="r" rtl="1">
              <a:buClr>
                <a:schemeClr val="bg1"/>
              </a:buClr>
            </a:pPr>
            <a:endParaRPr lang="en-US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ar-EG" sz="2800" b="1" dirty="0">
                <a:solidFill>
                  <a:srgbClr val="FF0000"/>
                </a:solidFill>
              </a:rPr>
              <a:t>الهدف النهائي؟</a:t>
            </a:r>
            <a:endParaRPr lang="ar-EG" sz="2800" b="1" dirty="0">
              <a:solidFill>
                <a:schemeClr val="bg1"/>
              </a:solidFill>
            </a:endParaRPr>
          </a:p>
          <a:p>
            <a:pPr marL="457200" indent="-457200" algn="r" rtl="1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السيطرة بدون كود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496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94FC7-8B51-22CB-6DAA-783D1E892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B69C10-8F20-051E-3DD7-A432D2A31497}"/>
              </a:ext>
            </a:extLst>
          </p:cNvPr>
          <p:cNvSpPr txBox="1"/>
          <p:nvPr/>
        </p:nvSpPr>
        <p:spPr>
          <a:xfrm>
            <a:off x="2552412" y="2333923"/>
            <a:ext cx="11151175" cy="5693866"/>
          </a:xfrm>
          <a:prstGeom prst="rect">
            <a:avLst/>
          </a:prstGeom>
          <a:solidFill>
            <a:schemeClr val="tx1"/>
          </a:solidFill>
          <a:effectLst>
            <a:glow rad="457200">
              <a:srgbClr val="C00000">
                <a:alpha val="40000"/>
              </a:srgbClr>
            </a:glow>
            <a:outerShdw blurRad="50800" dist="38100" dir="2400000" algn="t" rotWithShape="0">
              <a:prstClr val="black">
                <a:alpha val="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1"/>
                </a:solidFill>
              </a:rPr>
              <a:t>MAIRD = </a:t>
            </a:r>
            <a:r>
              <a:rPr lang="ar-EG" sz="2800" b="1" dirty="0">
                <a:solidFill>
                  <a:schemeClr val="bg1"/>
                </a:solidFill>
              </a:rPr>
              <a:t>هجوم كامل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مش على جهاز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chemeClr val="bg1"/>
                </a:solidFill>
              </a:rPr>
              <a:t>لكن على عقل.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ar-EG" sz="2800" b="1" dirty="0">
              <a:solidFill>
                <a:schemeClr val="bg1"/>
              </a:solidFill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ar-EG" sz="2800" b="1" dirty="0">
                <a:solidFill>
                  <a:srgbClr val="FF0000"/>
                </a:solidFill>
              </a:rPr>
              <a:t>كسر السلسلة في أي مرحلة = الهجوم يفشل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ar-EG" sz="2800" b="1" dirty="0">
              <a:solidFill>
                <a:srgbClr val="FF0000"/>
              </a:solidFill>
            </a:endParaRPr>
          </a:p>
          <a:p>
            <a:pPr marL="571500" indent="-571500" algn="r" rtl="1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ar-EG" sz="2800" b="1" dirty="0">
                <a:solidFill>
                  <a:srgbClr val="FF0000"/>
                </a:solidFill>
              </a:rPr>
              <a:t>وأفضل نقطة كسر؟</a:t>
            </a:r>
          </a:p>
          <a:p>
            <a:pPr marL="571500" indent="-571500" algn="r" rtl="1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ar-EG" sz="2800" b="1" dirty="0">
              <a:solidFill>
                <a:srgbClr val="FF0000"/>
              </a:solidFill>
            </a:endParaRPr>
          </a:p>
          <a:p>
            <a:pPr algn="r" rtl="1">
              <a:buClr>
                <a:srgbClr val="00B050"/>
              </a:buClr>
            </a:pPr>
            <a:r>
              <a:rPr lang="ar-EG" sz="2800" b="1" dirty="0">
                <a:solidFill>
                  <a:srgbClr val="FF0000"/>
                </a:solidFill>
              </a:rPr>
              <a:t>بين </a:t>
            </a:r>
            <a:r>
              <a:rPr lang="en-US" sz="2800" b="1" dirty="0">
                <a:solidFill>
                  <a:schemeClr val="bg1"/>
                </a:solidFill>
              </a:rPr>
              <a:t>Approach</a:t>
            </a:r>
            <a:r>
              <a:rPr lang="ar-EG" sz="2800" b="1" dirty="0">
                <a:solidFill>
                  <a:schemeClr val="bg1"/>
                </a:solidFill>
              </a:rPr>
              <a:t> </a:t>
            </a:r>
            <a:r>
              <a:rPr lang="ar-EG" sz="2800" b="1" dirty="0">
                <a:solidFill>
                  <a:srgbClr val="FF0000"/>
                </a:solidFill>
              </a:rPr>
              <a:t>و </a:t>
            </a:r>
            <a:r>
              <a:rPr lang="en-US" sz="2800" b="1" dirty="0">
                <a:solidFill>
                  <a:schemeClr val="bg1"/>
                </a:solidFill>
              </a:rPr>
              <a:t>Interaction</a:t>
            </a:r>
            <a:endParaRPr lang="ar-EG" sz="2800" b="1" dirty="0">
              <a:solidFill>
                <a:schemeClr val="bg1"/>
              </a:solidFill>
            </a:endParaRPr>
          </a:p>
          <a:p>
            <a:pPr marL="571500" indent="-571500" algn="ctr">
              <a:buFont typeface="Wingdings" panose="05000000000000000000" pitchFamily="2" charset="2"/>
              <a:buChar char="v"/>
            </a:pPr>
            <a:endParaRPr lang="ar-EG" sz="2800" b="1" dirty="0">
              <a:solidFill>
                <a:schemeClr val="bg1"/>
              </a:solidFill>
            </a:endParaRPr>
          </a:p>
          <a:p>
            <a:pPr marL="571500" indent="-571500" algn="ctr">
              <a:buFont typeface="Wingdings" panose="05000000000000000000" pitchFamily="2" charset="2"/>
              <a:buChar char="v"/>
            </a:pPr>
            <a:endParaRPr lang="ar-EG" sz="2800" b="1" dirty="0">
              <a:solidFill>
                <a:schemeClr val="bg1"/>
              </a:solidFill>
            </a:endParaRPr>
          </a:p>
          <a:p>
            <a:pPr marL="571500" indent="-571500" algn="ctr">
              <a:buFont typeface="Wingdings" panose="05000000000000000000" pitchFamily="2" charset="2"/>
              <a:buChar char="v"/>
            </a:pPr>
            <a:endParaRPr lang="ar-EG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32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48C68-75E6-D41E-7F42-0957D61F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BA692E-3669-CF70-0DB5-30F2BEEA875F}"/>
              </a:ext>
            </a:extLst>
          </p:cNvPr>
          <p:cNvSpPr txBox="1"/>
          <p:nvPr/>
        </p:nvSpPr>
        <p:spPr>
          <a:xfrm>
            <a:off x="4330890" y="4813224"/>
            <a:ext cx="7594220" cy="144655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571500">
              <a:schemeClr val="bg1">
                <a:alpha val="47000"/>
              </a:schemeClr>
            </a:glow>
            <a:outerShdw blurRad="50800" dist="38100" dir="10800000" algn="r" rotWithShape="0">
              <a:schemeClr val="bg1">
                <a:alpha val="40000"/>
              </a:scheme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n w="31750" cmpd="thinThick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glow rad="127000">
                    <a:srgbClr val="C00000">
                      <a:alpha val="40000"/>
                    </a:srgbClr>
                  </a:glow>
                  <a:outerShdw blurRad="50800" dist="50800" dir="5400000" sx="89000" sy="89000" algn="ctr" rotWithShape="0">
                    <a:schemeClr val="bg1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Ctrl + Click</a:t>
            </a:r>
            <a:endParaRPr lang="en-US" sz="8800" b="1" dirty="0">
              <a:ln w="31750" cmpd="thinThick">
                <a:solidFill>
                  <a:srgbClr val="FF0000"/>
                </a:solidFill>
              </a:ln>
              <a:solidFill>
                <a:srgbClr val="FF0000"/>
              </a:solidFill>
              <a:effectLst>
                <a:glow rad="127000">
                  <a:srgbClr val="C00000">
                    <a:alpha val="40000"/>
                  </a:srgbClr>
                </a:glow>
                <a:outerShdw blurRad="50800" dist="50800" dir="5400000" sx="89000" sy="89000" algn="ctr" rotWithShape="0">
                  <a:schemeClr val="bg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6627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46E6C-8491-6541-921F-8CEED3000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247FA-43D3-C388-7FD1-C22BF07BB51A}"/>
              </a:ext>
            </a:extLst>
          </p:cNvPr>
          <p:cNvSpPr txBox="1"/>
          <p:nvPr/>
        </p:nvSpPr>
        <p:spPr>
          <a:xfrm>
            <a:off x="2291556" y="3422267"/>
            <a:ext cx="11672888" cy="12003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342900">
              <a:schemeClr val="bg1">
                <a:alpha val="47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effectLst>
                  <a:outerShdw blurRad="50800" dist="50800" dir="5400000" algn="ctr" rotWithShape="0">
                    <a:srgbClr val="C00000"/>
                  </a:outerShdw>
                </a:effectLst>
              </a:rPr>
              <a:t>Never let Yourself lose Control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20719-0DD4-128F-A7FF-D3B129FF6DC2}"/>
              </a:ext>
            </a:extLst>
          </p:cNvPr>
          <p:cNvSpPr txBox="1"/>
          <p:nvPr/>
        </p:nvSpPr>
        <p:spPr>
          <a:xfrm>
            <a:off x="2291556" y="6096000"/>
            <a:ext cx="11672888" cy="12003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342900">
              <a:schemeClr val="bg1">
                <a:alpha val="47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glow>
                    <a:schemeClr val="bg1">
                      <a:lumMod val="75000"/>
                    </a:schemeClr>
                  </a:glow>
                  <a:outerShdw blurRad="50800" dist="50800" dir="5400000" algn="ctr" rotWithShape="0">
                    <a:srgbClr val="00B0F0"/>
                  </a:outerShdw>
                </a:effectLst>
              </a:rPr>
              <a:t>Take Back Control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88800F-13E5-CFFA-A04A-187871A1F370}"/>
              </a:ext>
            </a:extLst>
          </p:cNvPr>
          <p:cNvSpPr txBox="1"/>
          <p:nvPr/>
        </p:nvSpPr>
        <p:spPr>
          <a:xfrm>
            <a:off x="2291556" y="8824325"/>
            <a:ext cx="11672888" cy="12003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342900">
              <a:schemeClr val="bg1">
                <a:alpha val="47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n>
                  <a:solidFill>
                    <a:srgbClr val="7030A0"/>
                  </a:solidFill>
                </a:ln>
                <a:solidFill>
                  <a:srgbClr val="7030A0"/>
                </a:solidFill>
                <a:effectLst>
                  <a:glow rad="101600">
                    <a:schemeClr val="tx1">
                      <a:lumMod val="50000"/>
                      <a:lumOff val="50000"/>
                    </a:schemeClr>
                  </a:glow>
                  <a:outerShdw blurRad="50800" dist="50800" dir="5400000" algn="ctr" rotWithShape="0">
                    <a:srgbClr val="7030A0"/>
                  </a:outerShdw>
                </a:effectLst>
              </a:rPr>
              <a:t>Keep Succeeding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F24CD-312B-61CF-3051-E93458D5F55B}"/>
              </a:ext>
            </a:extLst>
          </p:cNvPr>
          <p:cNvSpPr txBox="1"/>
          <p:nvPr/>
        </p:nvSpPr>
        <p:spPr>
          <a:xfrm>
            <a:off x="4811594" y="1172733"/>
            <a:ext cx="6632812" cy="92333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glow rad="571500">
              <a:schemeClr val="bg1">
                <a:alpha val="47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n w="31750" cmpd="thinThick">
                  <a:solidFill>
                    <a:srgbClr val="FF0000"/>
                  </a:solidFill>
                </a:ln>
                <a:effectLst>
                  <a:glow rad="127000">
                    <a:schemeClr val="bg1">
                      <a:alpha val="40000"/>
                    </a:schemeClr>
                  </a:glow>
                  <a:outerShdw blurRad="50800" dist="50800" dir="5400000" algn="ctr" rotWithShape="0">
                    <a:schemeClr val="tx1"/>
                  </a:outerShdw>
                </a:effectLst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9529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439</TotalTime>
  <Words>1291</Words>
  <Application>Microsoft Office PowerPoint</Application>
  <PresentationFormat>Custom</PresentationFormat>
  <Paragraphs>414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Ziad Nasser</dc:creator>
  <cp:lastModifiedBy>Ziad Nasser</cp:lastModifiedBy>
  <cp:revision>35</cp:revision>
  <dcterms:created xsi:type="dcterms:W3CDTF">2026-02-10T02:56:04Z</dcterms:created>
  <dcterms:modified xsi:type="dcterms:W3CDTF">2026-02-12T17:04:56Z</dcterms:modified>
</cp:coreProperties>
</file>